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235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548640"/>
            <a:ext cx="1097280" cy="1097280"/>
          </a:xfrm>
          <a:prstGeom prst="ellipse">
            <a:avLst/>
          </a:prstGeom>
          <a:solidFill>
            <a:srgbClr val="75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377440" y="1188720"/>
            <a:ext cx="594360" cy="594360"/>
          </a:xfrm>
          <a:prstGeom prst="ellipse">
            <a:avLst/>
          </a:prstGeom>
          <a:solidFill>
            <a:srgbClr val="D6A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5303520"/>
            <a:ext cx="1463040" cy="1463040"/>
          </a:xfrm>
          <a:prstGeom prst="ellipse">
            <a:avLst/>
          </a:prstGeom>
          <a:solidFill>
            <a:srgbClr val="C96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0" y="5760720"/>
            <a:ext cx="457200" cy="457200"/>
          </a:xfrm>
          <a:prstGeom prst="ellipse">
            <a:avLst/>
          </a:prstGeom>
          <a:solidFill>
            <a:srgbClr val="75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240280"/>
            <a:ext cx="27432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ECO346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88920"/>
            <a:ext cx="2834640" cy="11430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ASSIGNMENT</a:t>
            </a:r>
            <a:br/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60520"/>
            <a:ext cx="2834640" cy="8229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300" b="1">
                <a:solidFill>
                  <a:srgbClr val="EBEEE1"/>
                </a:solidFill>
                <a:latin typeface="Aptos"/>
              </a:defRPr>
            </a:pPr>
            <a:r>
              <a:t>DATA VISUALIZATION</a:t>
            </a:r>
            <a:br/>
            <a:r>
              <a:t>TECHNIQUES FOR ECONOMISTS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417320"/>
            <a:ext cx="694944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700" b="1">
                <a:solidFill>
                  <a:srgbClr val="C9694C"/>
                </a:solidFill>
                <a:latin typeface="Aptos"/>
              </a:defRPr>
            </a:pPr>
            <a:r>
              <a:t>PSLM DATA EXPLORATION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011680"/>
            <a:ext cx="7040880" cy="1417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3000" b="1">
                <a:solidFill>
                  <a:srgbClr val="235240"/>
                </a:solidFill>
                <a:latin typeface="Aptos"/>
              </a:defRPr>
            </a:pPr>
            <a:r>
              <a:t>Education spending</a:t>
            </a:r>
            <a:br/>
            <a:r>
              <a:t>and literacy in rural Balochistan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3749039"/>
            <a:ext cx="1234440" cy="64008"/>
          </a:xfrm>
          <a:prstGeom prst="rect">
            <a:avLst/>
          </a:prstGeom>
          <a:solidFill>
            <a:srgbClr val="D6A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4160520"/>
            <a:ext cx="640080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28302B"/>
                </a:solidFill>
                <a:latin typeface="Aptos"/>
              </a:defRPr>
            </a:pPr>
            <a:r>
              <a:t>Prepared by: FA24-BED-078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4709160"/>
            <a:ext cx="6583680" cy="8229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0">
                <a:solidFill>
                  <a:srgbClr val="676F67"/>
                </a:solidFill>
                <a:latin typeface="Aptos"/>
              </a:defRPr>
            </a:pPr>
            <a:r>
              <a:t>A focused look at household spending patterns and literacy differences.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5715000"/>
            <a:ext cx="59436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1">
                <a:solidFill>
                  <a:srgbClr val="235240"/>
                </a:solidFill>
                <a:latin typeface="Aptos"/>
              </a:defRPr>
            </a:pPr>
            <a:r>
              <a:t>Variant 6  •  Rural Balochistan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5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144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C9694C"/>
                </a:solidFill>
                <a:latin typeface="Aptos"/>
              </a:defRPr>
            </a:pPr>
            <a:r>
              <a:t>QUESTION 2 /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500" b="1">
                <a:solidFill>
                  <a:srgbClr val="235240"/>
                </a:solidFill>
                <a:latin typeface="Aptos"/>
              </a:defRPr>
            </a:pPr>
            <a:r>
              <a:t>How is education spending distributed?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914400" cy="54864"/>
          </a:xfrm>
          <a:prstGeom prst="rect">
            <a:avLst/>
          </a:prstGeom>
          <a:solidFill>
            <a:srgbClr val="D6A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676F67"/>
                </a:solidFill>
                <a:latin typeface="Aptos"/>
              </a:defRPr>
            </a:pPr>
            <a:r>
              <a:t>ECO346  •  ASSIGNMENT 01                                      02 /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2461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82296" cy="1325880"/>
          </a:xfrm>
          <a:prstGeom prst="rect">
            <a:avLst/>
          </a:prstGeom>
          <a:solidFill>
            <a:srgbClr val="C96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01952"/>
            <a:ext cx="27889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1">
                <a:solidFill>
                  <a:srgbClr val="C9694C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04288"/>
            <a:ext cx="2788920" cy="6675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28302B"/>
                </a:solidFill>
                <a:latin typeface="Aptos"/>
              </a:defRPr>
            </a:pPr>
            <a:r>
              <a:t>Describe household education spending using a weighted distribution.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4612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246120"/>
            <a:ext cx="82296" cy="1508760"/>
          </a:xfrm>
          <a:prstGeom prst="rect">
            <a:avLst/>
          </a:prstGeom>
          <a:solidFill>
            <a:srgbClr val="235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410712"/>
            <a:ext cx="27889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1">
                <a:solidFill>
                  <a:srgbClr val="235240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13048"/>
            <a:ext cx="2788920" cy="8503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28302B"/>
                </a:solidFill>
                <a:latin typeface="Aptos"/>
              </a:defRPr>
            </a:pPr>
            <a:r>
              <a:t>Use the rural Balochistan subset and household weights. Display positive spending on a log scale where appropriate.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737360"/>
            <a:ext cx="726948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057400"/>
            <a:ext cx="6583680" cy="3124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800" b="1">
                <a:solidFill>
                  <a:srgbClr val="235240"/>
                </a:solidFill>
                <a:latin typeface="Aptos"/>
              </a:defRPr>
            </a:pPr>
            <a:r>
              <a:t>INSERT YOUR R GRPH HERE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450205"/>
            <a:ext cx="10881360" cy="658368"/>
          </a:xfrm>
          <a:prstGeom prst="roundRect">
            <a:avLst/>
          </a:prstGeom>
          <a:solidFill>
            <a:srgbClr val="EB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596128"/>
            <a:ext cx="1600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C9694C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4730" y="5591302"/>
            <a:ext cx="8503920" cy="43561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300" b="0">
                <a:solidFill>
                  <a:srgbClr val="28302B"/>
                </a:solidFill>
                <a:latin typeface="Aptos"/>
              </a:defRPr>
            </a:pPr>
            <a:r>
              <a:rPr lang="en-US" altLang="en-US"/>
              <a:t>Median weighted Rs 5200 (unweighted 6000). Distribution right-skewed. P90 is Rs 26000, P10 is Rs 1200, ratio 21.7 shows high inequality. 4 obs excluded.</a:t>
            </a:r>
            <a:endParaRPr lang="en-US" altLang="en-US"/>
          </a:p>
        </p:txBody>
      </p:sp>
      <p:pic>
        <p:nvPicPr>
          <p:cNvPr id="32" name="Picture 31" descr="q2_distribution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84700" y="1854200"/>
            <a:ext cx="6571615" cy="3190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5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144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C9694C"/>
                </a:solidFill>
                <a:latin typeface="Aptos"/>
              </a:defRPr>
            </a:pPr>
            <a:r>
              <a:t>QUESTION 3 / LITERACY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500" b="1">
                <a:solidFill>
                  <a:srgbClr val="235240"/>
                </a:solidFill>
                <a:latin typeface="Aptos"/>
              </a:defRPr>
            </a:pPr>
            <a:r>
              <a:t>How does literacy vary by age and sex?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914400" cy="54864"/>
          </a:xfrm>
          <a:prstGeom prst="rect">
            <a:avLst/>
          </a:prstGeom>
          <a:solidFill>
            <a:srgbClr val="D6A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676F67"/>
                </a:solidFill>
                <a:latin typeface="Aptos"/>
              </a:defRPr>
            </a:pPr>
            <a:r>
              <a:t>ECO346  •  ASSIGNMENT 01                                      03 /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694944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640080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700" b="1">
                <a:solidFill>
                  <a:srgbClr val="235240"/>
                </a:solidFill>
                <a:latin typeface="Aptos"/>
              </a:defRPr>
            </a:pPr>
            <a:r>
              <a:t>INSERT YOUR WEIGHTED LITERACY GRAPH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0" y="5230368"/>
            <a:ext cx="201168" cy="45720"/>
          </a:xfrm>
          <a:prstGeom prst="rect">
            <a:avLst/>
          </a:prstGeom>
          <a:solidFill>
            <a:srgbClr val="235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45920" y="5138928"/>
            <a:ext cx="7315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28302B"/>
                </a:solidFill>
                <a:latin typeface="Aptos"/>
              </a:defRPr>
            </a:pPr>
            <a:r>
              <a:t>Male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60320" y="5230368"/>
            <a:ext cx="201168" cy="45720"/>
          </a:xfrm>
          <a:prstGeom prst="rect">
            <a:avLst/>
          </a:prstGeom>
          <a:solidFill>
            <a:srgbClr val="C96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834640" y="51389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28302B"/>
                </a:solidFill>
                <a:latin typeface="Aptos"/>
              </a:defRPr>
            </a:pPr>
            <a:r>
              <a:t>Female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5532120"/>
            <a:ext cx="630936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0">
                <a:solidFill>
                  <a:srgbClr val="676F67"/>
                </a:solidFill>
                <a:latin typeface="Aptos"/>
              </a:defRPr>
            </a:pPr>
            <a:r>
              <a:t>Illustrative only — replace with your computed graph.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09560" y="1737360"/>
            <a:ext cx="36118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992110" y="1755775"/>
            <a:ext cx="82296" cy="1188720"/>
          </a:xfrm>
          <a:prstGeom prst="rect">
            <a:avLst/>
          </a:prstGeom>
          <a:solidFill>
            <a:srgbClr val="C96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38160" y="1423797"/>
            <a:ext cx="315468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1">
                <a:solidFill>
                  <a:srgbClr val="C9694C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0" y="1832483"/>
            <a:ext cx="3154680" cy="95885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28302B"/>
                </a:solidFill>
                <a:latin typeface="Aptos"/>
              </a:defRPr>
            </a:pPr>
            <a:r>
              <a:rPr lang="en-US" altLang="en-US"/>
              <a:t>Male literacy higher than female in all age groups. At age 12: 59.7% Male vs 41.1% Female (18.6pp gap). At age 32: 53% vs 15% (38pp gap). Gender gap persists across all ages.</a:t>
            </a:r>
            <a:endParaRPr lang="en-US" altLang="en-US"/>
          </a:p>
        </p:txBody>
      </p:sp>
      <p:sp>
        <p:nvSpPr>
          <p:cNvPr id="54" name="Rounded Rectangle 53"/>
          <p:cNvSpPr/>
          <p:nvPr/>
        </p:nvSpPr>
        <p:spPr>
          <a:xfrm>
            <a:off x="7852410" y="3392805"/>
            <a:ext cx="36118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992110" y="3486785"/>
            <a:ext cx="82296" cy="1188720"/>
          </a:xfrm>
          <a:prstGeom prst="rect">
            <a:avLst/>
          </a:prstGeom>
          <a:solidFill>
            <a:srgbClr val="235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95310" y="2994152"/>
            <a:ext cx="315468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1">
                <a:solidFill>
                  <a:srgbClr val="235240"/>
                </a:solidFill>
                <a:latin typeface="Aptos"/>
              </a:defRPr>
            </a:pPr>
            <a:r>
              <a:t>LOOK FOR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3486657"/>
            <a:ext cx="3154680" cy="95885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28302B"/>
                </a:solidFill>
                <a:latin typeface="Aptos"/>
              </a:defRPr>
            </a:pPr>
            <a:r>
              <a:rPr lang="en-US" altLang="en-US"/>
              <a:t>Gap is widest at age 42: 55% Male vs 7.5% Female = 47.5pp gap. Literacy declines with age. Female literacy drops below 15% after age 32. Male literacy drops sharply after age 42 (55% to 32%).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852410" y="5044440"/>
            <a:ext cx="36118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992110" y="5048250"/>
            <a:ext cx="82296" cy="1188720"/>
          </a:xfrm>
          <a:prstGeom prst="rect">
            <a:avLst/>
          </a:prstGeom>
          <a:solidFill>
            <a:srgbClr val="D6A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09610" y="4734052"/>
            <a:ext cx="315468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1">
                <a:solidFill>
                  <a:srgbClr val="D6AB4B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48015" y="5201920"/>
            <a:ext cx="3101975" cy="95885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28302B"/>
                </a:solidFill>
                <a:latin typeface="Aptos"/>
              </a:defRPr>
            </a:pPr>
            <a:r>
              <a:rPr lang="en-US" altLang="en-US"/>
              <a:t>Weighted estimates: Youngest (12yr) 60% Male, 41% Female. Middle (32yr) 53% Male, 15% Female. Oldest (62yr) 39% Male, 1% Female. Shows strong age effect + persistent gender disparity in Balochistan Rural.</a:t>
            </a:r>
          </a:p>
        </p:txBody>
      </p:sp>
      <p:pic>
        <p:nvPicPr>
          <p:cNvPr id="62" name="Picture 61" descr="q3_literacy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2975" y="1896110"/>
            <a:ext cx="6280150" cy="38550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5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144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C9694C"/>
                </a:solidFill>
                <a:latin typeface="Aptos"/>
              </a:defRPr>
            </a:pPr>
            <a:r>
              <a:t>QUESTION 4 / REDESIGN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500" b="1">
                <a:solidFill>
                  <a:srgbClr val="235240"/>
                </a:solidFill>
                <a:latin typeface="Aptos"/>
              </a:defRPr>
            </a:pPr>
            <a:r>
              <a:t>From a basic chart to a clearer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914400" cy="54864"/>
          </a:xfrm>
          <a:prstGeom prst="rect">
            <a:avLst/>
          </a:prstGeom>
          <a:solidFill>
            <a:srgbClr val="D6A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676F67"/>
                </a:solidFill>
                <a:latin typeface="Aptos"/>
              </a:defRPr>
            </a:pPr>
            <a:r>
              <a:t>ECO346  •  ASSIGNMENT 01                                      04 /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339725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250" y="1847850"/>
            <a:ext cx="82296" cy="3383280"/>
          </a:xfrm>
          <a:prstGeom prst="rect">
            <a:avLst/>
          </a:prstGeom>
          <a:solidFill>
            <a:srgbClr val="C96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0162"/>
            <a:ext cx="27889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1">
                <a:solidFill>
                  <a:srgbClr val="C9694C"/>
                </a:solidFill>
                <a:latin typeface="Aptos"/>
              </a:defRPr>
            </a:pPr>
            <a:r>
              <a:t>BEFORE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783080"/>
            <a:ext cx="3447415" cy="347027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9245" y="1874520"/>
            <a:ext cx="82296" cy="3383280"/>
          </a:xfrm>
          <a:prstGeom prst="rect">
            <a:avLst/>
          </a:prstGeom>
          <a:solidFill>
            <a:srgbClr val="235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1650" y="1550162"/>
            <a:ext cx="27889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1">
                <a:solidFill>
                  <a:srgbClr val="235240"/>
                </a:solidFill>
                <a:latin typeface="Aptos"/>
              </a:defRPr>
            </a:pPr>
            <a:r>
              <a:t>AFTER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4445" y="1783080"/>
            <a:ext cx="396621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1783080"/>
            <a:ext cx="82296" cy="3383280"/>
          </a:xfrm>
          <a:prstGeom prst="rect">
            <a:avLst/>
          </a:prstGeom>
          <a:solidFill>
            <a:srgbClr val="D6A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1947672"/>
            <a:ext cx="32004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1">
                <a:solidFill>
                  <a:srgbClr val="D6AB4B"/>
                </a:solidFill>
                <a:latin typeface="Aptos"/>
              </a:defRPr>
            </a:pPr>
            <a:r>
              <a:t>DESIGN CHOICES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440680"/>
            <a:ext cx="10607040" cy="594360"/>
          </a:xfrm>
          <a:prstGeom prst="roundRect">
            <a:avLst/>
          </a:prstGeom>
          <a:solidFill>
            <a:srgbClr val="EB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596128"/>
            <a:ext cx="9966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300" b="1">
                <a:solidFill>
                  <a:srgbClr val="28302B"/>
                </a:solidFill>
                <a:latin typeface="Aptos"/>
              </a:defRPr>
            </a:pPr>
            <a:r>
              <a:t>Explain how each design change helps readers compare the data accurately.</a:t>
            </a:r>
          </a:p>
        </p:txBody>
      </p:sp>
      <p:pic>
        <p:nvPicPr>
          <p:cNvPr id="21" name="Picture 20" descr="q4_bar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0415" y="1948180"/>
            <a:ext cx="3005455" cy="2968625"/>
          </a:xfrm>
          <a:prstGeom prst="rect">
            <a:avLst/>
          </a:prstGeom>
        </p:spPr>
      </p:pic>
      <p:pic>
        <p:nvPicPr>
          <p:cNvPr id="22" name="Picture 21" descr="q4_improved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3555" y="1990090"/>
            <a:ext cx="3227705" cy="30600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1821</Words>
  <Application>WPS Presentation</Application>
  <PresentationFormat>On-screen Show (4:3)</PresentationFormat>
  <Paragraphs>76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binte ashraf</cp:lastModifiedBy>
  <cp:revision>2</cp:revision>
  <dcterms:created xsi:type="dcterms:W3CDTF">2013-01-27T09:14:00Z</dcterms:created>
  <dcterms:modified xsi:type="dcterms:W3CDTF">2026-10-23T15:09:15Z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129C3E2568D941F19671E9AEC5B2CFC4_13</vt:lpwstr>
  </property>
</Properties>
</file>